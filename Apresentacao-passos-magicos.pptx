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68" r:id="rId14"/>
    <p:sldId id="261" r:id="rId15"/>
    <p:sldId id="26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5" autoAdjust="0"/>
    <p:restoredTop sz="94660"/>
  </p:normalViewPr>
  <p:slideViewPr>
    <p:cSldViewPr snapToGrid="0">
      <p:cViewPr>
        <p:scale>
          <a:sx n="100" d="100"/>
          <a:sy n="100" d="100"/>
        </p:scale>
        <p:origin x="10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EC93BA-AD30-472A-9362-6C190CCB39E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607C56B-F3C9-4A2B-BA2C-686C7F5EF9D7}">
      <dgm:prSet/>
      <dgm:spPr/>
      <dgm:t>
        <a:bodyPr/>
        <a:lstStyle/>
        <a:p>
          <a:r>
            <a:rPr lang="pt-BR" b="1"/>
            <a:t>A Missão:</a:t>
          </a:r>
          <a:r>
            <a:rPr lang="pt-BR"/>
            <a:t> A Associação atua há 35 anos transformando a vida de jovens em vulnerabilidade. </a:t>
          </a:r>
          <a:endParaRPr lang="en-US"/>
        </a:p>
      </dgm:t>
    </dgm:pt>
    <dgm:pt modelId="{BC13B5EF-8423-459E-AAC9-66B03B27BC45}" type="parTrans" cxnId="{9DC0D922-D285-46C4-BACF-24600654226D}">
      <dgm:prSet/>
      <dgm:spPr/>
      <dgm:t>
        <a:bodyPr/>
        <a:lstStyle/>
        <a:p>
          <a:endParaRPr lang="en-US"/>
        </a:p>
      </dgm:t>
    </dgm:pt>
    <dgm:pt modelId="{5A7FD109-32B6-43A1-B693-F16F37939383}" type="sibTrans" cxnId="{9DC0D922-D285-46C4-BACF-24600654226D}">
      <dgm:prSet/>
      <dgm:spPr/>
      <dgm:t>
        <a:bodyPr/>
        <a:lstStyle/>
        <a:p>
          <a:endParaRPr lang="en-US"/>
        </a:p>
      </dgm:t>
    </dgm:pt>
    <dgm:pt modelId="{3EA9C926-1D85-4522-BA7C-B7A5A85CD82D}">
      <dgm:prSet/>
      <dgm:spPr/>
      <dgm:t>
        <a:bodyPr/>
        <a:lstStyle/>
        <a:p>
          <a:r>
            <a:rPr lang="pt-BR" b="1"/>
            <a:t>O Desafio de Data Analytics:</a:t>
          </a:r>
          <a:r>
            <a:rPr lang="pt-BR"/>
            <a:t> Utilizar a base histórica (2022-2024) para responder dores de negócio, comprovar a efetividade do programa e construir um modelo preditivo de risco de defasagem. </a:t>
          </a:r>
          <a:endParaRPr lang="en-US"/>
        </a:p>
      </dgm:t>
    </dgm:pt>
    <dgm:pt modelId="{09AFBFD1-AE9B-478F-922D-DBA257FA7C12}" type="parTrans" cxnId="{007946F3-2A60-47DA-83C0-E2BE6906D983}">
      <dgm:prSet/>
      <dgm:spPr/>
      <dgm:t>
        <a:bodyPr/>
        <a:lstStyle/>
        <a:p>
          <a:endParaRPr lang="en-US"/>
        </a:p>
      </dgm:t>
    </dgm:pt>
    <dgm:pt modelId="{B99C6A00-7042-4ABD-B24C-2DAD7F69134C}" type="sibTrans" cxnId="{007946F3-2A60-47DA-83C0-E2BE6906D983}">
      <dgm:prSet/>
      <dgm:spPr/>
      <dgm:t>
        <a:bodyPr/>
        <a:lstStyle/>
        <a:p>
          <a:endParaRPr lang="en-US"/>
        </a:p>
      </dgm:t>
    </dgm:pt>
    <dgm:pt modelId="{C0440D2E-7AAD-4D59-A90E-EEFC5E6D494C}" type="pres">
      <dgm:prSet presAssocID="{B8EC93BA-AD30-472A-9362-6C190CCB39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163D07-50C1-4278-9BC6-F692D03AAD3D}" type="pres">
      <dgm:prSet presAssocID="{8607C56B-F3C9-4A2B-BA2C-686C7F5EF9D7}" presName="hierRoot1" presStyleCnt="0"/>
      <dgm:spPr/>
    </dgm:pt>
    <dgm:pt modelId="{9472DA0D-0E9D-470E-9C8B-98BD4EAE7483}" type="pres">
      <dgm:prSet presAssocID="{8607C56B-F3C9-4A2B-BA2C-686C7F5EF9D7}" presName="composite" presStyleCnt="0"/>
      <dgm:spPr/>
    </dgm:pt>
    <dgm:pt modelId="{2F39C005-631C-41EF-88D9-9B24D2DFB94B}" type="pres">
      <dgm:prSet presAssocID="{8607C56B-F3C9-4A2B-BA2C-686C7F5EF9D7}" presName="background" presStyleLbl="node0" presStyleIdx="0" presStyleCnt="2"/>
      <dgm:spPr/>
    </dgm:pt>
    <dgm:pt modelId="{CE870E53-4F94-4A16-9F17-9ADF8CFD231A}" type="pres">
      <dgm:prSet presAssocID="{8607C56B-F3C9-4A2B-BA2C-686C7F5EF9D7}" presName="text" presStyleLbl="fgAcc0" presStyleIdx="0" presStyleCnt="2">
        <dgm:presLayoutVars>
          <dgm:chPref val="3"/>
        </dgm:presLayoutVars>
      </dgm:prSet>
      <dgm:spPr/>
    </dgm:pt>
    <dgm:pt modelId="{0BD97DCE-24AF-49BF-BC4A-2E940A0DF3FA}" type="pres">
      <dgm:prSet presAssocID="{8607C56B-F3C9-4A2B-BA2C-686C7F5EF9D7}" presName="hierChild2" presStyleCnt="0"/>
      <dgm:spPr/>
    </dgm:pt>
    <dgm:pt modelId="{0E12962B-B8EB-41A1-9A49-BDC108D822E5}" type="pres">
      <dgm:prSet presAssocID="{3EA9C926-1D85-4522-BA7C-B7A5A85CD82D}" presName="hierRoot1" presStyleCnt="0"/>
      <dgm:spPr/>
    </dgm:pt>
    <dgm:pt modelId="{24181C06-92FE-4EF7-AF50-30608838808C}" type="pres">
      <dgm:prSet presAssocID="{3EA9C926-1D85-4522-BA7C-B7A5A85CD82D}" presName="composite" presStyleCnt="0"/>
      <dgm:spPr/>
    </dgm:pt>
    <dgm:pt modelId="{86E28F90-87E1-4550-8255-E9F5D070A9FF}" type="pres">
      <dgm:prSet presAssocID="{3EA9C926-1D85-4522-BA7C-B7A5A85CD82D}" presName="background" presStyleLbl="node0" presStyleIdx="1" presStyleCnt="2"/>
      <dgm:spPr/>
    </dgm:pt>
    <dgm:pt modelId="{5ABB49C3-DDD9-4A89-BDE0-B7C1F65411CC}" type="pres">
      <dgm:prSet presAssocID="{3EA9C926-1D85-4522-BA7C-B7A5A85CD82D}" presName="text" presStyleLbl="fgAcc0" presStyleIdx="1" presStyleCnt="2">
        <dgm:presLayoutVars>
          <dgm:chPref val="3"/>
        </dgm:presLayoutVars>
      </dgm:prSet>
      <dgm:spPr/>
    </dgm:pt>
    <dgm:pt modelId="{81665DF2-0D58-4B4A-BAB9-F4E228E90CEF}" type="pres">
      <dgm:prSet presAssocID="{3EA9C926-1D85-4522-BA7C-B7A5A85CD82D}" presName="hierChild2" presStyleCnt="0"/>
      <dgm:spPr/>
    </dgm:pt>
  </dgm:ptLst>
  <dgm:cxnLst>
    <dgm:cxn modelId="{18040514-CD53-4945-AF7C-3C37AC16C5E8}" type="presOf" srcId="{3EA9C926-1D85-4522-BA7C-B7A5A85CD82D}" destId="{5ABB49C3-DDD9-4A89-BDE0-B7C1F65411CC}" srcOrd="0" destOrd="0" presId="urn:microsoft.com/office/officeart/2005/8/layout/hierarchy1"/>
    <dgm:cxn modelId="{9A6A4816-E4EC-4C15-BE07-F9BE90F8408C}" type="presOf" srcId="{8607C56B-F3C9-4A2B-BA2C-686C7F5EF9D7}" destId="{CE870E53-4F94-4A16-9F17-9ADF8CFD231A}" srcOrd="0" destOrd="0" presId="urn:microsoft.com/office/officeart/2005/8/layout/hierarchy1"/>
    <dgm:cxn modelId="{9DC0D922-D285-46C4-BACF-24600654226D}" srcId="{B8EC93BA-AD30-472A-9362-6C190CCB39E4}" destId="{8607C56B-F3C9-4A2B-BA2C-686C7F5EF9D7}" srcOrd="0" destOrd="0" parTransId="{BC13B5EF-8423-459E-AAC9-66B03B27BC45}" sibTransId="{5A7FD109-32B6-43A1-B693-F16F37939383}"/>
    <dgm:cxn modelId="{FA4B9057-34C9-42B3-8B12-18C808F5D229}" type="presOf" srcId="{B8EC93BA-AD30-472A-9362-6C190CCB39E4}" destId="{C0440D2E-7AAD-4D59-A90E-EEFC5E6D494C}" srcOrd="0" destOrd="0" presId="urn:microsoft.com/office/officeart/2005/8/layout/hierarchy1"/>
    <dgm:cxn modelId="{007946F3-2A60-47DA-83C0-E2BE6906D983}" srcId="{B8EC93BA-AD30-472A-9362-6C190CCB39E4}" destId="{3EA9C926-1D85-4522-BA7C-B7A5A85CD82D}" srcOrd="1" destOrd="0" parTransId="{09AFBFD1-AE9B-478F-922D-DBA257FA7C12}" sibTransId="{B99C6A00-7042-4ABD-B24C-2DAD7F69134C}"/>
    <dgm:cxn modelId="{18A826D7-2CC2-46D4-96FE-177EBB49FBE6}" type="presParOf" srcId="{C0440D2E-7AAD-4D59-A90E-EEFC5E6D494C}" destId="{9B163D07-50C1-4278-9BC6-F692D03AAD3D}" srcOrd="0" destOrd="0" presId="urn:microsoft.com/office/officeart/2005/8/layout/hierarchy1"/>
    <dgm:cxn modelId="{63070923-A201-4E5A-85A4-82623DBDF48C}" type="presParOf" srcId="{9B163D07-50C1-4278-9BC6-F692D03AAD3D}" destId="{9472DA0D-0E9D-470E-9C8B-98BD4EAE7483}" srcOrd="0" destOrd="0" presId="urn:microsoft.com/office/officeart/2005/8/layout/hierarchy1"/>
    <dgm:cxn modelId="{C6245073-E749-4E0C-A705-367559C27A22}" type="presParOf" srcId="{9472DA0D-0E9D-470E-9C8B-98BD4EAE7483}" destId="{2F39C005-631C-41EF-88D9-9B24D2DFB94B}" srcOrd="0" destOrd="0" presId="urn:microsoft.com/office/officeart/2005/8/layout/hierarchy1"/>
    <dgm:cxn modelId="{6F2C3CE5-94EB-4324-905A-36BA6704368E}" type="presParOf" srcId="{9472DA0D-0E9D-470E-9C8B-98BD4EAE7483}" destId="{CE870E53-4F94-4A16-9F17-9ADF8CFD231A}" srcOrd="1" destOrd="0" presId="urn:microsoft.com/office/officeart/2005/8/layout/hierarchy1"/>
    <dgm:cxn modelId="{A3C62AFF-D8AE-40A5-A0FD-8ABD874B85C6}" type="presParOf" srcId="{9B163D07-50C1-4278-9BC6-F692D03AAD3D}" destId="{0BD97DCE-24AF-49BF-BC4A-2E940A0DF3FA}" srcOrd="1" destOrd="0" presId="urn:microsoft.com/office/officeart/2005/8/layout/hierarchy1"/>
    <dgm:cxn modelId="{3DDE8816-0A82-404C-A8C9-CAC799E482D1}" type="presParOf" srcId="{C0440D2E-7AAD-4D59-A90E-EEFC5E6D494C}" destId="{0E12962B-B8EB-41A1-9A49-BDC108D822E5}" srcOrd="1" destOrd="0" presId="urn:microsoft.com/office/officeart/2005/8/layout/hierarchy1"/>
    <dgm:cxn modelId="{F110999B-0963-4FD7-9640-19052CCD8AE4}" type="presParOf" srcId="{0E12962B-B8EB-41A1-9A49-BDC108D822E5}" destId="{24181C06-92FE-4EF7-AF50-30608838808C}" srcOrd="0" destOrd="0" presId="urn:microsoft.com/office/officeart/2005/8/layout/hierarchy1"/>
    <dgm:cxn modelId="{4BCB0B86-0D0F-4B36-BA4C-DFD8ACAE9769}" type="presParOf" srcId="{24181C06-92FE-4EF7-AF50-30608838808C}" destId="{86E28F90-87E1-4550-8255-E9F5D070A9FF}" srcOrd="0" destOrd="0" presId="urn:microsoft.com/office/officeart/2005/8/layout/hierarchy1"/>
    <dgm:cxn modelId="{D609B232-2D01-442D-BFBC-7B2108E0FA7C}" type="presParOf" srcId="{24181C06-92FE-4EF7-AF50-30608838808C}" destId="{5ABB49C3-DDD9-4A89-BDE0-B7C1F65411CC}" srcOrd="1" destOrd="0" presId="urn:microsoft.com/office/officeart/2005/8/layout/hierarchy1"/>
    <dgm:cxn modelId="{E88FAF62-9DB4-4E4B-80EF-906BACC6DBC9}" type="presParOf" srcId="{0E12962B-B8EB-41A1-9A49-BDC108D822E5}" destId="{81665DF2-0D58-4B4A-BAB9-F4E228E90C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9C005-631C-41EF-88D9-9B24D2DFB94B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70E53-4F94-4A16-9F17-9ADF8CFD231A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A Missão:</a:t>
          </a:r>
          <a:r>
            <a:rPr lang="pt-BR" sz="2500" kern="1200"/>
            <a:t> A Associação atua há 35 anos transformando a vida de jovens em vulnerabilidade. </a:t>
          </a:r>
          <a:endParaRPr lang="en-US" sz="2500" kern="1200"/>
        </a:p>
      </dsp:txBody>
      <dsp:txXfrm>
        <a:off x="585701" y="1066737"/>
        <a:ext cx="4337991" cy="2693452"/>
      </dsp:txXfrm>
    </dsp:sp>
    <dsp:sp modelId="{86E28F90-87E1-4550-8255-E9F5D070A9FF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B49C3-DDD9-4A89-BDE0-B7C1F65411CC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O Desafio de Data Analytics:</a:t>
          </a:r>
          <a:r>
            <a:rPr lang="pt-BR" sz="2500" kern="1200"/>
            <a:t> Utilizar a base histórica (2022-2024) para responder dores de negócio, comprovar a efetividade do programa e construir um modelo preditivo de risco de defasagem. </a:t>
          </a:r>
          <a:endParaRPr lang="en-US" sz="2500" kern="1200"/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AAA9-1DEF-03AC-A534-D84218C13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5CC6D9-F621-130C-0BA7-554C93033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0F223E-BAFA-6ADB-58AF-74E973E4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F5ECEB-E29B-AF46-143B-48BA9009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4940BD-BB4E-4FF9-EBBE-704F72B2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12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1040F-C3DE-5C2E-166E-FC7EBF5A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9A1CB-2CE3-BA84-12C0-86AB0AE20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A31475-AD5C-11E8-D009-1471D0A8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989704-1CC1-A969-739A-E29FC63F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FB589D-9D78-16BD-5650-07E7CF6B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11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43B16-261E-B589-D56C-278D8CE2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838839-01D7-E1AC-9F1A-9DCB2710A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FFD003-3C0E-5280-D430-22ADE582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9152F0-770D-D4D8-78D3-8E6669A1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328EF5-3345-4DFB-C50F-877D645D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90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30685-9384-0DF0-8728-7F032F9F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87AFB1-4D00-EB09-8350-22AA2E545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E2E9AB-7923-FC21-AFDD-9B9342BF9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B27084-9F71-18BC-45A6-57CCDE1B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EB9E8-A513-7241-8B48-E1B325C6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CB7D2F-0BC6-544E-EDDE-EF6F4CDF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01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6AEE2-D8D1-C9A2-73FB-44A1F43F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3519BF-FAB4-354E-8028-5969F0D9B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C08E14-2EF1-6D7C-B007-A803F5B6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DF46D4-C45C-4F96-17D7-EDDFC2273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9DFE40-21C3-2198-C289-5E8D12353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8457353-4131-13D3-E34D-D757D509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9039B5-1FBE-7320-EF06-9491D574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AEFE48-2647-D1DC-960A-ED5E519F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75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385A7-54D7-740E-0CF4-76D899D2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067704-CB64-502C-979E-39639DED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D95CC7-9403-156B-6403-12A17237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E71C6A-8143-CDA7-B2ED-2E65685F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19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C6A22B-30F9-A9FC-9CBF-D9BA40D0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DC02E-A701-DFD3-AFD6-97D4E0D8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F78C9D-4536-7D12-E3C7-47846924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56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2B6E8-E8F7-73E8-5A15-B44A9159D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CC7CBE-0171-6C93-B519-2C1E65C5B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E06BE7-D8B0-CFAD-B2E1-544D5D15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D8FCCC-349A-DABE-40A9-E23AAAA1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FAC915-05CC-FE0A-122F-585F4D00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54ECE0-DA1C-64AE-4BDF-543A7DB3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61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286C3-7762-E7CF-62C8-191C30CF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301F06-7CE0-7724-6C24-648599677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ED1826-9BDC-6278-22A8-DDEFD75B1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F59CC2-59AE-36A1-EAE5-18B8DD53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BC1160-E2FC-0953-1FFB-6D69CB2E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2FE3D7-E48D-6A9C-4096-2D259D71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42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7C5D8-B209-CC89-3DBF-45D09CEF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DD09B5-0F36-EA7F-4AA0-091197652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C824D0-F95A-DFBC-81C6-EEA4E0C0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77BE-3326-204B-132E-8D323D36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16D4BF-5691-EABD-8C9D-8265E77D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68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C0B98C-FDCB-26F9-3DAE-74254116B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2FE567-327D-8F3E-DF90-4CD8B186B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DD813-29E4-C751-0721-386D9C1E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4C2EAD-8CAD-010D-81C6-B5C564CB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0E108C-B108-D0EB-BF4B-556DF8D8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776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01CA4C-363A-98D0-D832-B715A076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1DA0B-A8B2-7BB8-7489-E0135042D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AAD9C5-84C6-D28B-CD7C-639098F6F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3E079-AF22-4419-81E2-2B351ED755B9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C0D130-936F-4ABE-2520-37F0202A8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57EEDF-4AC4-AB71-3EC7-68897C588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76D71-B778-4CFF-8F32-0D6653C94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60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49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5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5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D5CEF8-7FD0-F4AC-0DD4-E47F4726B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pt-BR" sz="5600"/>
              <a:t>Datathon: Case Passos Mágicos - Previsão de Risco e Efetividade Educacional</a:t>
            </a:r>
            <a:br>
              <a:rPr lang="pt-BR" sz="5600"/>
            </a:br>
            <a:endParaRPr lang="pt-BR" sz="5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AB5239-C770-B1C7-91AC-6741DAE33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pt-BR" sz="1500"/>
              <a:t>Impacto transformador através da análise de dados</a:t>
            </a:r>
          </a:p>
          <a:p>
            <a:r>
              <a:rPr lang="pt-BR" sz="1500"/>
              <a:t>Maurisvan Alves - Tech Challenge Fase 5 – Data Analytics – DTAT11 - FIAP</a:t>
            </a:r>
            <a:endParaRPr lang="pt-BR" sz="15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80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AB1B82-4FDE-DAB0-1508-1BB171AA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pt-BR" sz="5200" b="1"/>
              <a:t>Contexto e Objetivo</a:t>
            </a:r>
            <a:endParaRPr lang="pt-BR" sz="5200"/>
          </a:p>
        </p:txBody>
      </p:sp>
      <p:graphicFrame>
        <p:nvGraphicFramePr>
          <p:cNvPr id="23" name="Espaço Reservado para Conteúdo 2">
            <a:extLst>
              <a:ext uri="{FF2B5EF4-FFF2-40B4-BE49-F238E27FC236}">
                <a16:creationId xmlns:a16="http://schemas.microsoft.com/office/drawing/2014/main" id="{2DA0E290-125D-8F36-0BBB-CE2EA2C7A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9436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936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A8FE57-2281-FAF2-AF95-E03E56ED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3000" b="1"/>
              <a:t>O Perfil dos Alunos (Defasagem e Avaliação Psicológica)</a:t>
            </a:r>
            <a:endParaRPr lang="pt-BR" sz="3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483A6D-8034-596D-B26D-3A83DF61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12" y="364142"/>
            <a:ext cx="6500830" cy="3867993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3ADE3C-344C-FBF8-6E96-69DB049C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pPr lvl="0"/>
            <a:r>
              <a:rPr lang="pt-BR" sz="1800"/>
              <a:t>Nossa análise mostra um salto muito positivo: o número de alunos com nível de adequação ideal (IAN 10) cresceu drasticamente de 2022 para 2024. Além disso, a avaliação psicopedagógica (IPP) acompanha essa defasagem, mostrando que os indicadores da ONG são muito coerentes.</a:t>
            </a:r>
          </a:p>
        </p:txBody>
      </p:sp>
    </p:spTree>
    <p:extLst>
      <p:ext uri="{BB962C8B-B14F-4D97-AF65-F5344CB8AC3E}">
        <p14:creationId xmlns:p14="http://schemas.microsoft.com/office/powerpoint/2010/main" val="111489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6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BF2038-16C4-3D5B-39C7-F5F356EF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2500" b="1"/>
              <a:t>A Efetividade do Programa e o Desempenho Acadêmico</a:t>
            </a:r>
            <a:br>
              <a:rPr lang="pt-BR" sz="2500"/>
            </a:br>
            <a:endParaRPr lang="pt-BR" sz="2500"/>
          </a:p>
        </p:txBody>
      </p:sp>
      <p:sp>
        <p:nvSpPr>
          <p:cNvPr id="77" name="Rectangle 7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707FE7-5700-F5E5-BB87-45DF567B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22" y="364142"/>
            <a:ext cx="9155011" cy="3867993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38EF24-A031-DFCD-2127-851CCFE8A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pPr lvl="0"/>
            <a:r>
              <a:rPr lang="pt-BR" sz="1700"/>
              <a:t>O programa funciona de fato. Observando a linha do tempo formativa, a nota global (INDE) sobe de forma consistente conforme os alunos avançam do Quartzo até o Topázio. Notamos apenas algumas quedas pontuais de desempenho (IDA) em fases de transição escolar, o que é natural pela complexidade das matérias.</a:t>
            </a:r>
          </a:p>
        </p:txBody>
      </p:sp>
    </p:spTree>
    <p:extLst>
      <p:ext uri="{BB962C8B-B14F-4D97-AF65-F5344CB8AC3E}">
        <p14:creationId xmlns:p14="http://schemas.microsoft.com/office/powerpoint/2010/main" val="270022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9FBAF6-CF1F-2EA7-BB20-E5E5AA35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pt-BR" sz="4000" b="1"/>
              <a:t>Comportamento e o "Ponto de Virada"</a:t>
            </a:r>
            <a:endParaRPr lang="pt-BR" sz="4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D20A9B-A859-5006-9CDD-6E08D161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667068"/>
            <a:ext cx="11139778" cy="3035589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11431-8C2E-EC6A-44B5-A68278AE4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pPr lvl="0"/>
            <a:r>
              <a:rPr lang="pt-BR" sz="2000"/>
              <a:t>Comprovamos matematicamente que o engajamento (IEG) é o grande motor do aluno. Ele puxa o desempenho acadêmico para cima e é fortemente ligado ao Ponto de Virada (IPV). Alunos que entregam tarefas e participam, naturalmente evoluem.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2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D9CB07-8565-CEAA-7A28-0D49895E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 fontScale="90000"/>
          </a:bodyPr>
          <a:lstStyle/>
          <a:p>
            <a:r>
              <a:rPr lang="pt-BR" sz="2800" dirty="0"/>
              <a:t>O Alinhamento entre a Autoavaliação do Aluno, seu Desempenho e Engajamento</a:t>
            </a:r>
            <a:br>
              <a:rPr lang="pt-BR" sz="2700" dirty="0"/>
            </a:br>
            <a:endParaRPr lang="pt-BR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51A1CF-2371-A6EA-C2A8-5D710FCCE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509375"/>
            <a:ext cx="10369645" cy="35775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36B9DA-4AC2-1102-70F4-2C3BFF7E6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pt-BR" sz="1800" dirty="0"/>
              <a:t>Esta análise compara a percepção que o aluno tem de si mesmo com métricas reais do curso. Os dados mostram que existe um alinhamento positivo: alunos que se autoavaliam com notas mais altas tendem a entregar resultados superiores em Desempenho (IDA) e demonstrar maior Engajamento (IEG).</a:t>
            </a:r>
          </a:p>
        </p:txBody>
      </p:sp>
    </p:spTree>
    <p:extLst>
      <p:ext uri="{BB962C8B-B14F-4D97-AF65-F5344CB8AC3E}">
        <p14:creationId xmlns:p14="http://schemas.microsoft.com/office/powerpoint/2010/main" val="424980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9DA1D2-DC05-31C8-D2A7-6980DD11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3200"/>
              <a:t>IPS x Categorias IDA/IEG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44B4A5-58C4-EB98-4288-523A34A8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483451"/>
            <a:ext cx="10369645" cy="36293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2627A8-090B-17FA-6350-125F1B96E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pt-BR" sz="1800"/>
              <a:t>Ausência de variação significativa nas métricas de IPS entre as categorias.</a:t>
            </a:r>
          </a:p>
          <a:p>
            <a:r>
              <a:rPr lang="pt-BR" sz="1800"/>
              <a:t>A dispersão dos dados se mantém constante, independentemente da classificação do aluno.</a:t>
            </a:r>
          </a:p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799719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20C386-97FE-662C-238D-028DFE03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3200"/>
              <a:t>IPP vs. Nível de Defasagem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008A85-733E-36D1-C5D0-D0752CA1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68" y="364142"/>
            <a:ext cx="6555919" cy="386799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89ACBD-D2F1-6D4B-A534-B8A43C02D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pt-BR" sz="1800"/>
              <a:t>A nota mediana de IPP sofre uma leve queda conforme a defasagem piora.</a:t>
            </a:r>
          </a:p>
          <a:p>
            <a:r>
              <a:rPr lang="pt-BR" sz="1800"/>
              <a:t>Alunos com defasagem Severa apresentam maior variação e concentram notas mais baixas.</a:t>
            </a:r>
          </a:p>
        </p:txBody>
      </p:sp>
    </p:spTree>
    <p:extLst>
      <p:ext uri="{BB962C8B-B14F-4D97-AF65-F5344CB8AC3E}">
        <p14:creationId xmlns:p14="http://schemas.microsoft.com/office/powerpoint/2010/main" val="315652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B04347-B8F7-914D-86BC-8EE2C6DE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3200"/>
              <a:t>O que impulsiona o Ponto de Virada?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3A45B2-63F8-978B-C4D3-2BF9F8EC8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12" y="364142"/>
            <a:ext cx="6500830" cy="3867993"/>
          </a:xfrm>
          <a:prstGeom prst="rect">
            <a:avLst/>
          </a:prstGeom>
        </p:spPr>
      </p:pic>
      <p:sp>
        <p:nvSpPr>
          <p:cNvPr id="21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21056-C59F-39BE-50B9-A0E86F069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pt-BR" sz="1800"/>
              <a:t>IPP, IEG e IDA são os principais motores para o Ponto de Virada (IPV).</a:t>
            </a:r>
          </a:p>
          <a:p>
            <a:r>
              <a:rPr lang="pt-BR" sz="1800"/>
              <a:t>Indicadores como IAA e IPS têm impacto irrelevante ou levemente negativo neste resultado.</a:t>
            </a:r>
          </a:p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1850417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E9ADBC-1E3E-0CBB-8D76-346BC5F0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pt-BR" sz="3600"/>
              <a:t>Distribuição de Pesos no INDE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44CE8-A6C6-4E41-5106-136D80B61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pt-BR" sz="1800"/>
              <a:t>Engajamento (IEG) apresenta o maior coeficiente de impacto, seguido de perto por Desempenho (IDA).</a:t>
            </a:r>
          </a:p>
          <a:p>
            <a:r>
              <a:rPr lang="pt-BR" sz="1800"/>
              <a:t>O modelo atribui uma relevância significativamente menor à variável IPS.</a:t>
            </a:r>
          </a:p>
          <a:p>
            <a:endParaRPr lang="pt-BR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38E446-B4BF-EF5E-0EFB-C9C1FCAB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588984"/>
            <a:ext cx="5628018" cy="344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0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7D2CB3-FA2A-81B1-D43D-77B38E65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pt-BR" sz="3200"/>
              <a:t>Evolução Histórica do INDE</a:t>
            </a:r>
          </a:p>
        </p:txBody>
      </p:sp>
      <p:sp>
        <p:nvSpPr>
          <p:cNvPr id="45" name="Rectangle 3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C5953E-CC5E-70C7-B1BD-F09C94FD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118" y="364142"/>
            <a:ext cx="6583819" cy="386799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09CC9-0FD8-27DF-8D41-E7F4CC273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pt-BR" sz="1800"/>
              <a:t>O comportamento do INDE é consistente e se repete nos anos de 2022, 2023 e 2024.</a:t>
            </a:r>
          </a:p>
          <a:p>
            <a:r>
              <a:rPr lang="pt-BR" sz="1800"/>
              <a:t>A fase Ametista representa o pico de desempenho, enquanto a fase Ágata concentra as notas mais baixas.</a:t>
            </a:r>
          </a:p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13189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631DA7-B5EC-F2E0-8F73-CCA0BD56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t-BR" sz="4800"/>
              <a:t>Desempenho do Modelo (Teste)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4B326E-EF06-11A6-CE92-AE334415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pt-BR" sz="2000"/>
              <a:t>A acurácia geral do modelo atinge 61% na base de testes.</a:t>
            </a:r>
          </a:p>
          <a:p>
            <a:r>
              <a:rPr lang="pt-BR" sz="2000"/>
              <a:t>Mantém-se a alta assertividade na detecção da Classe 1, contrastando com a baixa captura da Classe 0.</a:t>
            </a:r>
          </a:p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F84A9F-1A1E-D98B-9A01-F2A4392F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336833"/>
            <a:ext cx="5150277" cy="20090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73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690826-8B2C-27EB-0A20-D4D7443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t-BR" sz="4800"/>
              <a:t>Resultados do Modelo de Classificação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0564B-7376-3971-DB48-5FA0CF0C8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pt-BR" sz="2000"/>
              <a:t>A acurácia geral de 59% e AUC-ROC de 0.598 indicam um poder preditivo moderado.</a:t>
            </a:r>
          </a:p>
          <a:p>
            <a:r>
              <a:rPr lang="pt-BR" sz="2000"/>
              <a:t>O modelo é mais eficiente em identificar a Classe 1 (captura 79% dos casos reais).</a:t>
            </a:r>
          </a:p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FAE8DB-0997-DE38-9A28-007A682D6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34232"/>
            <a:ext cx="5150277" cy="22142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0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5EB506-C6B4-FD4F-FF7D-06146F71D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t-BR" sz="3700" b="1"/>
              <a:t>A Solução - Modelo Preditivo de Risco</a:t>
            </a:r>
            <a:endParaRPr lang="pt-BR" sz="3700"/>
          </a:p>
        </p:txBody>
      </p:sp>
      <p:grpSp>
        <p:nvGrpSpPr>
          <p:cNvPr id="58" name="Group 4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199671-2BAF-FEF1-F90B-5BD7747C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lvl="0"/>
            <a:r>
              <a:rPr lang="pt-BR" sz="2000"/>
              <a:t>Para atuar de forma preventiva, construí um motor de Machine Learning baseado em Random Forest e embarcamos em uma aplicação web. A equipe pedagógica pode inserir as notas de um aluno e o modelo prevê a probabilidade dele entrar em defasagem severa, permitindo intervenção antecipada.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8A89D09-ED30-0DFF-2355-0C291CE3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130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1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413356-B3DC-70AE-E1AE-E7BA497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t-BR" sz="2800" b="1"/>
              <a:t>Conclusão e Oportunidades de Melhoria</a:t>
            </a:r>
            <a:endParaRPr lang="pt-BR" sz="2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DD0332-DE93-CBDB-0CEF-ADE00EDF9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lvl="1"/>
            <a:r>
              <a:rPr lang="pt-BR" sz="2000"/>
              <a:t>Reforço focado nas fases de transição escolar.</a:t>
            </a:r>
          </a:p>
          <a:p>
            <a:pPr lvl="1"/>
            <a:r>
              <a:rPr lang="pt-BR" sz="2000"/>
              <a:t>Uso contínuo do Portal Preditivo pela equipe psicológica.</a:t>
            </a:r>
          </a:p>
          <a:p>
            <a:pPr lvl="1"/>
            <a:r>
              <a:rPr lang="pt-BR" sz="2000"/>
              <a:t>Adoção de ações para aumentar o engajamento geral.</a:t>
            </a:r>
          </a:p>
          <a:p>
            <a:pPr lvl="0"/>
            <a:r>
              <a:rPr lang="pt-BR" sz="2000"/>
              <a:t>Como sugestão de melhoria, recomendamos usar o modelo preditivo ativamente para focar os esforços de reforço exato nas fases onde identificamos as maiores quedas. Muito obrigado.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tátuas esculpidas coloridas de pessoas">
            <a:extLst>
              <a:ext uri="{FF2B5EF4-FFF2-40B4-BE49-F238E27FC236}">
                <a16:creationId xmlns:a16="http://schemas.microsoft.com/office/drawing/2014/main" id="{773FA0F9-0BC5-B62B-9997-A04A7EA3A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0" r="12891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45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705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Datathon: Case Passos Mágicos - Previsão de Risco e Efetividade Educacional </vt:lpstr>
      <vt:lpstr>Contexto e Objetivo</vt:lpstr>
      <vt:lpstr>O Perfil dos Alunos (Defasagem e Avaliação Psicológica)</vt:lpstr>
      <vt:lpstr>A Efetividade do Programa e o Desempenho Acadêmico </vt:lpstr>
      <vt:lpstr>Comportamento e o "Ponto de Virada"</vt:lpstr>
      <vt:lpstr>O Alinhamento entre a Autoavaliação do Aluno, seu Desempenho e Engajamento </vt:lpstr>
      <vt:lpstr>IPS x Categorias IDA/IEG</vt:lpstr>
      <vt:lpstr>IPP vs. Nível de Defasagem</vt:lpstr>
      <vt:lpstr>O que impulsiona o Ponto de Virada?</vt:lpstr>
      <vt:lpstr>Distribuição de Pesos no INDE</vt:lpstr>
      <vt:lpstr>Evolução Histórica do INDE</vt:lpstr>
      <vt:lpstr>Desempenho do Modelo (Teste)</vt:lpstr>
      <vt:lpstr>Resultados do Modelo de Classificação</vt:lpstr>
      <vt:lpstr>A Solução - Modelo Preditivo de Risco</vt:lpstr>
      <vt:lpstr>Conclusão e Oportunidades de Melhoria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MAURISVAN ALVES</dc:creator>
  <cp:lastModifiedBy>MAURISVAN ALVES</cp:lastModifiedBy>
  <cp:revision>30</cp:revision>
  <dcterms:created xsi:type="dcterms:W3CDTF">2026-07-06T21:12:04Z</dcterms:created>
  <dcterms:modified xsi:type="dcterms:W3CDTF">2026-07-13T15:31:28Z</dcterms:modified>
</cp:coreProperties>
</file>